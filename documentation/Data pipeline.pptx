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669075" cy="9926625"/>
  <p:embeddedFontLst>
    <p:embeddedFont>
      <p:font typeface="Mulish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21" Type="http://schemas.openxmlformats.org/officeDocument/2006/relationships/font" Target="fonts/Open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ulish-regular.fntdata"/><Relationship Id="rId14" Type="http://schemas.openxmlformats.org/officeDocument/2006/relationships/slide" Target="slides/slide10.xml"/><Relationship Id="rId17" Type="http://schemas.openxmlformats.org/officeDocument/2006/relationships/font" Target="fonts/Mulish-italic.fntdata"/><Relationship Id="rId16" Type="http://schemas.openxmlformats.org/officeDocument/2006/relationships/font" Target="fonts/Mulish-bold.fntdata"/><Relationship Id="rId5" Type="http://schemas.openxmlformats.org/officeDocument/2006/relationships/slide" Target="slides/slide1.xml"/><Relationship Id="rId19" Type="http://schemas.openxmlformats.org/officeDocument/2006/relationships/font" Target="fonts/OpenSans-regular.fntdata"/><Relationship Id="rId6" Type="http://schemas.openxmlformats.org/officeDocument/2006/relationships/slide" Target="slides/slide2.xml"/><Relationship Id="rId18" Type="http://schemas.openxmlformats.org/officeDocument/2006/relationships/font" Target="fonts/Mulish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57188" y="1241425"/>
            <a:ext cx="5954712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357188" y="1241425"/>
            <a:ext cx="5954712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357188" y="1241425"/>
            <a:ext cx="5954712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357188" y="1241425"/>
            <a:ext cx="5954712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Vous travaillez pour un laboratoire de recherche botanique.</a:t>
            </a:r>
            <a:br>
              <a:rPr lang="fr-FR"/>
            </a:br>
            <a:r>
              <a:rPr lang="fr-FR"/>
              <a:t>Objectif : développer un pipeline complet de machine learning capable de prédire la longueur des sépales d’une fleur </a:t>
            </a:r>
            <a:r>
              <a:rPr i="1" lang="fr-FR"/>
              <a:t>iris</a:t>
            </a:r>
            <a:r>
              <a:rPr lang="fr-FR"/>
              <a:t> à partir de leur largeur.</a:t>
            </a:r>
            <a:br>
              <a:rPr lang="fr-FR"/>
            </a:br>
            <a:r>
              <a:rPr lang="fr-FR"/>
              <a:t>Le système doit être automatisé versionné et déployé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357188" y="1241425"/>
            <a:ext cx="5954712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fr-FR"/>
              <a:t>Concevoir une architecture de pipeline data de bout en 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fr-FR"/>
              <a:t>Utilisation des stacks techniques  : Docker, PostgreSQL, MLflow, Flask/FastAPI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Collaborer en équipe dans un cadre technique contraint</a:t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357188" y="1241425"/>
            <a:ext cx="5954712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 txBox="1"/>
          <p:nvPr>
            <p:ph idx="12" type="sldNum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357188" y="1241425"/>
            <a:ext cx="5954712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fr-FR"/>
              <a:t>Pipeline dockerisé avec 4 services (prétraitement, PostgreSQL, modélisation, API)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fr-FR"/>
              <a:t>Dossier technique avec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lang="fr-FR"/>
              <a:t>Architecture du pipeline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lang="fr-FR"/>
              <a:t>Choix techniques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lang="fr-FR"/>
              <a:t>Résultats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lang="fr-FR"/>
              <a:t>Présentation orale</a:t>
            </a:r>
            <a:endParaRPr/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57188" y="1241425"/>
            <a:ext cx="5954712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fr-FR"/>
              <a:t>Les groupes les plus avancés peuvent compléter leur pipeline par le développement d’une interface utilisateur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0" lang="fr-FR"/>
            </a:br>
            <a:r>
              <a:rPr b="0" lang="fr-FR"/>
              <a:t>Cette interface permettra de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lang="fr-FR"/>
              <a:t>Soumettre une largeur de sépale via un champ de saisie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lang="fr-FR"/>
              <a:t>Obtenir une prédiction de longueur calculée via l’API REST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</p:txBody>
      </p:sp>
      <p:sp>
        <p:nvSpPr>
          <p:cNvPr id="107" name="Google Shape;107;p7:notes"/>
          <p:cNvSpPr txBox="1"/>
          <p:nvPr>
            <p:ph idx="12" type="sldNum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357188" y="1241425"/>
            <a:ext cx="5954712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fr-FR"/>
              <a:t>un conteneur Docker par étape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fr-FR"/>
              <a:t>Docker Compose pour orchestrer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fr-FR"/>
              <a:t>PostgreSQL pour stocker les données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fr-FR"/>
              <a:t>MLflow pour tracer les modèles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fr-FR"/>
              <a:t>API REST testable (curl, Postman, etc.)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Projet exécutable avec docker-compose 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115" name="Google Shape;115;p8:notes"/>
          <p:cNvSpPr txBox="1"/>
          <p:nvPr>
            <p:ph idx="12" type="sldNum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/>
          <p:nvPr>
            <p:ph idx="2" type="sldImg"/>
          </p:nvPr>
        </p:nvSpPr>
        <p:spPr>
          <a:xfrm>
            <a:off x="357188" y="1241425"/>
            <a:ext cx="5954712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fr-FR"/>
              <a:t>Pipeline fonctionnel, lisible, bien structuré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fr-FR"/>
              <a:t>Choix techniques justifiés et pertinents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fr-FR"/>
              <a:t>Traçabilité via MLflow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fr-FR"/>
              <a:t>Capacité à collaborer efficacement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Présentation claire et démonstration réussie</a:t>
            </a:r>
            <a:endParaRPr/>
          </a:p>
        </p:txBody>
      </p:sp>
      <p:sp>
        <p:nvSpPr>
          <p:cNvPr id="128" name="Google Shape;128;p9:notes"/>
          <p:cNvSpPr txBox="1"/>
          <p:nvPr>
            <p:ph idx="12" type="sldNum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357188" y="1241425"/>
            <a:ext cx="5954712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 txBox="1"/>
          <p:nvPr>
            <p:ph idx="12" type="sldNum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e de titre">
  <p:cSld name="1_Diapositive de titr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apositive de titre">
  <p:cSld name="3_Diapositive de titr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Graphique, Police, capture d’écran, logo&#10;&#10;Description générée automatiquement"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2506794" y="2912741"/>
            <a:ext cx="5625270" cy="2461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485E"/>
              </a:buClr>
              <a:buSzPts val="2800"/>
              <a:buFont typeface="Mulish"/>
              <a:buNone/>
              <a:defRPr b="1" i="0" sz="2800">
                <a:solidFill>
                  <a:srgbClr val="1F485E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re de section">
  <p:cSld name="6_Titre de sectio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>
  <p:cSld name="Diapositive de titr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1D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39433" y="2448849"/>
            <a:ext cx="5713134" cy="1960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iapositive de titre">
  <p:cSld name="2_Diapositive de titr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/>
          <p:cNvPicPr preferRelativeResize="0"/>
          <p:nvPr/>
        </p:nvPicPr>
        <p:blipFill rotWithShape="1">
          <a:blip r:embed="rId2">
            <a:alphaModFix/>
          </a:blip>
          <a:srcRect b="16111" l="11893" r="67" t="1680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/>
        </p:nvSpPr>
        <p:spPr>
          <a:xfrm>
            <a:off x="652196" y="2422571"/>
            <a:ext cx="8284029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</a:pPr>
            <a:r>
              <a:rPr b="1" i="0" lang="fr-FR" sz="6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Data Pipeline</a:t>
            </a:r>
            <a:endParaRPr/>
          </a:p>
        </p:txBody>
      </p:sp>
      <p:sp>
        <p:nvSpPr>
          <p:cNvPr id="32" name="Google Shape;32;p7"/>
          <p:cNvSpPr txBox="1"/>
          <p:nvPr/>
        </p:nvSpPr>
        <p:spPr>
          <a:xfrm>
            <a:off x="-1511884" y="5081951"/>
            <a:ext cx="89490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Groupe : 3 à 4 étudiants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ctrTitle"/>
          </p:nvPr>
        </p:nvSpPr>
        <p:spPr>
          <a:xfrm>
            <a:off x="2344723" y="2097997"/>
            <a:ext cx="6888876" cy="4734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85E"/>
              </a:buClr>
              <a:buSzPts val="2600"/>
              <a:buFont typeface="Mulish"/>
              <a:buNone/>
            </a:pPr>
            <a:r>
              <a:rPr lang="fr-FR" sz="2600"/>
              <a:t>Contexte du projet</a:t>
            </a:r>
            <a:endParaRPr/>
          </a:p>
        </p:txBody>
      </p:sp>
      <p:sp>
        <p:nvSpPr>
          <p:cNvPr id="39" name="Google Shape;39;p8"/>
          <p:cNvSpPr txBox="1"/>
          <p:nvPr/>
        </p:nvSpPr>
        <p:spPr>
          <a:xfrm>
            <a:off x="2344723" y="2564185"/>
            <a:ext cx="6888876" cy="4734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85E"/>
              </a:buClr>
              <a:buSzPts val="2600"/>
              <a:buFont typeface="Mulish"/>
              <a:buNone/>
            </a:pPr>
            <a:r>
              <a:rPr b="1" i="0" lang="fr-FR" sz="2600" u="none" cap="none" strike="noStrike">
                <a:solidFill>
                  <a:srgbClr val="1F485E"/>
                </a:solidFill>
                <a:latin typeface="Mulish"/>
                <a:ea typeface="Mulish"/>
                <a:cs typeface="Mulish"/>
                <a:sym typeface="Mulish"/>
              </a:rPr>
              <a:t>Objectifs pédagogiques</a:t>
            </a:r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2344723" y="859872"/>
            <a:ext cx="4257413" cy="6753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8"/>
          <p:cNvSpPr txBox="1"/>
          <p:nvPr/>
        </p:nvSpPr>
        <p:spPr>
          <a:xfrm>
            <a:off x="2822896" y="782029"/>
            <a:ext cx="342270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4000" u="none" cap="none" strike="noStrike">
                <a:solidFill>
                  <a:srgbClr val="0091D3"/>
                </a:solidFill>
                <a:latin typeface="Mulish"/>
                <a:ea typeface="Mulish"/>
                <a:cs typeface="Mulish"/>
                <a:sym typeface="Mulish"/>
              </a:rPr>
              <a:t>Sommaire</a:t>
            </a:r>
            <a:endParaRPr/>
          </a:p>
        </p:txBody>
      </p:sp>
      <p:sp>
        <p:nvSpPr>
          <p:cNvPr id="42" name="Google Shape;42;p8"/>
          <p:cNvSpPr txBox="1"/>
          <p:nvPr/>
        </p:nvSpPr>
        <p:spPr>
          <a:xfrm>
            <a:off x="2344723" y="4634269"/>
            <a:ext cx="6888876" cy="498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85E"/>
              </a:buClr>
              <a:buSzPts val="2800"/>
              <a:buFont typeface="Mulish"/>
              <a:buNone/>
            </a:pPr>
            <a:r>
              <a:t/>
            </a:r>
            <a:endParaRPr b="1" i="0" sz="2800" u="none">
              <a:solidFill>
                <a:srgbClr val="1F485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3" name="Google Shape;43;p8"/>
          <p:cNvSpPr txBox="1"/>
          <p:nvPr/>
        </p:nvSpPr>
        <p:spPr>
          <a:xfrm>
            <a:off x="2344723" y="2983075"/>
            <a:ext cx="6888876" cy="5488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85E"/>
              </a:buClr>
              <a:buSzPts val="2600"/>
              <a:buFont typeface="Mulish"/>
              <a:buNone/>
            </a:pPr>
            <a:r>
              <a:rPr b="1" i="0" lang="fr-FR" sz="2600" u="none">
                <a:solidFill>
                  <a:srgbClr val="1F485E"/>
                </a:solidFill>
                <a:latin typeface="Mulish"/>
                <a:ea typeface="Mulish"/>
                <a:cs typeface="Mulish"/>
                <a:sym typeface="Mulish"/>
              </a:rPr>
              <a:t>Structure et temporalité</a:t>
            </a:r>
            <a:endParaRPr/>
          </a:p>
        </p:txBody>
      </p:sp>
      <p:sp>
        <p:nvSpPr>
          <p:cNvPr id="44" name="Google Shape;44;p8"/>
          <p:cNvSpPr txBox="1"/>
          <p:nvPr/>
        </p:nvSpPr>
        <p:spPr>
          <a:xfrm>
            <a:off x="2344723" y="3500962"/>
            <a:ext cx="6888876" cy="498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85E"/>
              </a:buClr>
              <a:buSzPts val="2600"/>
              <a:buFont typeface="Mulish"/>
              <a:buNone/>
            </a:pPr>
            <a:r>
              <a:rPr b="1" i="0" lang="fr-FR" sz="2600" u="none">
                <a:solidFill>
                  <a:srgbClr val="1F485E"/>
                </a:solidFill>
                <a:latin typeface="Mulish"/>
                <a:ea typeface="Mulish"/>
                <a:cs typeface="Mulish"/>
                <a:sym typeface="Mulish"/>
              </a:rPr>
              <a:t>Livrables attendus</a:t>
            </a:r>
            <a:endParaRPr/>
          </a:p>
        </p:txBody>
      </p:sp>
      <p:sp>
        <p:nvSpPr>
          <p:cNvPr id="45" name="Google Shape;45;p8"/>
          <p:cNvSpPr txBox="1"/>
          <p:nvPr/>
        </p:nvSpPr>
        <p:spPr>
          <a:xfrm>
            <a:off x="2344723" y="3968626"/>
            <a:ext cx="6888876" cy="498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85E"/>
              </a:buClr>
              <a:buSzPts val="2600"/>
              <a:buFont typeface="Mulish"/>
              <a:buNone/>
            </a:pPr>
            <a:r>
              <a:rPr b="1" i="0" lang="fr-FR" sz="2600" u="none">
                <a:solidFill>
                  <a:srgbClr val="1F485E"/>
                </a:solidFill>
                <a:latin typeface="Mulish"/>
                <a:ea typeface="Mulish"/>
                <a:cs typeface="Mulish"/>
                <a:sym typeface="Mulish"/>
              </a:rPr>
              <a:t>Ressources et outils</a:t>
            </a:r>
            <a:endParaRPr/>
          </a:p>
        </p:txBody>
      </p:sp>
      <p:sp>
        <p:nvSpPr>
          <p:cNvPr id="46" name="Google Shape;46;p8"/>
          <p:cNvSpPr txBox="1"/>
          <p:nvPr/>
        </p:nvSpPr>
        <p:spPr>
          <a:xfrm>
            <a:off x="2344723" y="4436292"/>
            <a:ext cx="6888876" cy="498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85E"/>
              </a:buClr>
              <a:buSzPts val="2600"/>
              <a:buFont typeface="Mulish"/>
              <a:buNone/>
            </a:pPr>
            <a:r>
              <a:rPr b="1" i="0" lang="fr-FR" sz="2600" u="none">
                <a:solidFill>
                  <a:srgbClr val="1F485E"/>
                </a:solidFill>
                <a:latin typeface="Mulish"/>
                <a:ea typeface="Mulish"/>
                <a:cs typeface="Mulish"/>
                <a:sym typeface="Mulish"/>
              </a:rPr>
              <a:t>Critères de réussite</a:t>
            </a:r>
            <a:endParaRPr b="1" i="0" sz="2600" u="none">
              <a:solidFill>
                <a:srgbClr val="1F485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32768" y="94530"/>
            <a:ext cx="2986087" cy="111413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 txBox="1"/>
          <p:nvPr/>
        </p:nvSpPr>
        <p:spPr>
          <a:xfrm>
            <a:off x="653518" y="338252"/>
            <a:ext cx="8300006" cy="626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1D3"/>
              </a:buClr>
              <a:buSzPts val="4000"/>
              <a:buFont typeface="Mulish"/>
              <a:buNone/>
            </a:pPr>
            <a:r>
              <a:rPr b="1" i="0" lang="fr-FR" sz="4000">
                <a:solidFill>
                  <a:srgbClr val="0091D3"/>
                </a:solidFill>
                <a:latin typeface="Mulish"/>
                <a:ea typeface="Mulish"/>
                <a:cs typeface="Mulish"/>
                <a:sym typeface="Mulish"/>
              </a:rPr>
              <a:t>Contexte du projet</a:t>
            </a:r>
            <a:endParaRPr b="1" i="0" sz="4000">
              <a:solidFill>
                <a:srgbClr val="0091D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54" name="Google Shape;54;p9"/>
          <p:cNvSpPr txBox="1"/>
          <p:nvPr/>
        </p:nvSpPr>
        <p:spPr>
          <a:xfrm>
            <a:off x="205740" y="2767280"/>
            <a:ext cx="1178052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0091D3"/>
                </a:solidFill>
                <a:latin typeface="Mulish"/>
                <a:ea typeface="Mulish"/>
                <a:cs typeface="Mulish"/>
                <a:sym typeface="Mulish"/>
              </a:rPr>
              <a:t>Développement d’un pipeline de ML capable de prédire la longueur des sépales d’une fleur Iris à partir de leur largeur.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32768" y="94530"/>
            <a:ext cx="2986087" cy="111413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 txBox="1"/>
          <p:nvPr/>
        </p:nvSpPr>
        <p:spPr>
          <a:xfrm>
            <a:off x="653518" y="338252"/>
            <a:ext cx="8300006" cy="626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1D3"/>
              </a:buClr>
              <a:buSzPts val="4000"/>
              <a:buFont typeface="Mulish"/>
              <a:buNone/>
            </a:pPr>
            <a:r>
              <a:rPr b="1" i="0" lang="fr-FR" sz="4000">
                <a:solidFill>
                  <a:srgbClr val="0091D3"/>
                </a:solidFill>
                <a:latin typeface="Mulish"/>
                <a:ea typeface="Mulish"/>
                <a:cs typeface="Mulish"/>
                <a:sym typeface="Mulish"/>
              </a:rPr>
              <a:t>Les objectifs pédagogiques </a:t>
            </a:r>
            <a:endParaRPr b="1" i="0" sz="4000">
              <a:solidFill>
                <a:srgbClr val="0091D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descr="Images de Skills – Téléchargement gratuit sur Freepik" id="62" name="Google Shape;6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4675" y="1661160"/>
            <a:ext cx="596265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/>
          <p:nvPr/>
        </p:nvSpPr>
        <p:spPr>
          <a:xfrm>
            <a:off x="1594109" y="3762537"/>
            <a:ext cx="8103142" cy="378347"/>
          </a:xfrm>
          <a:prstGeom prst="chevron">
            <a:avLst>
              <a:gd fmla="val 27324" name="adj"/>
            </a:avLst>
          </a:prstGeom>
          <a:solidFill>
            <a:srgbClr val="DDEAF6"/>
          </a:solidFill>
          <a:ln>
            <a:noFill/>
          </a:ln>
        </p:spPr>
        <p:txBody>
          <a:bodyPr anchorCtr="0" anchor="ctr" bIns="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400">
                <a:solidFill>
                  <a:srgbClr val="0062AE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sz="1400">
              <a:solidFill>
                <a:srgbClr val="006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32768" y="94530"/>
            <a:ext cx="2986087" cy="111413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1"/>
          <p:cNvSpPr txBox="1"/>
          <p:nvPr/>
        </p:nvSpPr>
        <p:spPr>
          <a:xfrm>
            <a:off x="653518" y="338252"/>
            <a:ext cx="8300006" cy="626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1D3"/>
              </a:buClr>
              <a:buSzPts val="4000"/>
              <a:buFont typeface="Mulish"/>
              <a:buNone/>
            </a:pPr>
            <a:r>
              <a:rPr b="1" i="0" lang="fr-FR" sz="4000">
                <a:solidFill>
                  <a:srgbClr val="0091D3"/>
                </a:solidFill>
                <a:latin typeface="Mulish"/>
                <a:ea typeface="Mulish"/>
                <a:cs typeface="Mulish"/>
                <a:sym typeface="Mulish"/>
              </a:rPr>
              <a:t>Structure et temporalité</a:t>
            </a:r>
            <a:endParaRPr b="1" i="0" sz="4000">
              <a:solidFill>
                <a:srgbClr val="0091D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1" name="Google Shape;71;p11"/>
          <p:cNvSpPr txBox="1"/>
          <p:nvPr/>
        </p:nvSpPr>
        <p:spPr>
          <a:xfrm>
            <a:off x="838200" y="1452388"/>
            <a:ext cx="10515600" cy="18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1"/>
          <p:cNvSpPr txBox="1"/>
          <p:nvPr/>
        </p:nvSpPr>
        <p:spPr>
          <a:xfrm>
            <a:off x="838200" y="3275092"/>
            <a:ext cx="10515600" cy="1634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 txBox="1"/>
          <p:nvPr/>
        </p:nvSpPr>
        <p:spPr>
          <a:xfrm>
            <a:off x="838200" y="4940407"/>
            <a:ext cx="10515600" cy="7746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11"/>
          <p:cNvCxnSpPr/>
          <p:nvPr/>
        </p:nvCxnSpPr>
        <p:spPr>
          <a:xfrm>
            <a:off x="1335125" y="4175708"/>
            <a:ext cx="8487055" cy="8546"/>
          </a:xfrm>
          <a:prstGeom prst="straightConnector1">
            <a:avLst/>
          </a:prstGeom>
          <a:noFill/>
          <a:ln cap="flat" cmpd="sng" w="9525">
            <a:solidFill>
              <a:srgbClr val="333399"/>
            </a:solidFill>
            <a:prstDash val="solid"/>
            <a:round/>
            <a:headEnd len="sm" w="sm" type="none"/>
            <a:tailEnd len="lg" w="lg" type="stealth"/>
          </a:ln>
        </p:spPr>
      </p:cxnSp>
      <p:grpSp>
        <p:nvGrpSpPr>
          <p:cNvPr id="75" name="Google Shape;75;p11"/>
          <p:cNvGrpSpPr/>
          <p:nvPr/>
        </p:nvGrpSpPr>
        <p:grpSpPr>
          <a:xfrm rot="10800000">
            <a:off x="1332358" y="2652167"/>
            <a:ext cx="216024" cy="1630183"/>
            <a:chOff x="323528" y="2888960"/>
            <a:chExt cx="360000" cy="2716972"/>
          </a:xfrm>
        </p:grpSpPr>
        <p:grpSp>
          <p:nvGrpSpPr>
            <p:cNvPr id="76" name="Google Shape;76;p11"/>
            <p:cNvGrpSpPr/>
            <p:nvPr/>
          </p:nvGrpSpPr>
          <p:grpSpPr>
            <a:xfrm>
              <a:off x="323528" y="2888960"/>
              <a:ext cx="360000" cy="360000"/>
              <a:chOff x="323528" y="2888960"/>
              <a:chExt cx="360000" cy="360000"/>
            </a:xfrm>
          </p:grpSpPr>
          <p:sp>
            <p:nvSpPr>
              <p:cNvPr id="77" name="Google Shape;77;p11"/>
              <p:cNvSpPr/>
              <p:nvPr/>
            </p:nvSpPr>
            <p:spPr>
              <a:xfrm>
                <a:off x="395516" y="2960948"/>
                <a:ext cx="216024" cy="216024"/>
              </a:xfrm>
              <a:prstGeom prst="ellipse">
                <a:avLst/>
              </a:prstGeom>
              <a:solidFill>
                <a:srgbClr val="C0166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8" name="Google Shape;78;p11"/>
              <p:cNvSpPr/>
              <p:nvPr/>
            </p:nvSpPr>
            <p:spPr>
              <a:xfrm>
                <a:off x="323528" y="2888960"/>
                <a:ext cx="360000" cy="360000"/>
              </a:xfrm>
              <a:prstGeom prst="ellipse">
                <a:avLst/>
              </a:prstGeom>
              <a:noFill/>
              <a:ln cap="flat" cmpd="sng" w="25400">
                <a:solidFill>
                  <a:srgbClr val="C0166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cxnSp>
          <p:nvCxnSpPr>
            <p:cNvPr id="79" name="Google Shape;79;p11"/>
            <p:cNvCxnSpPr/>
            <p:nvPr/>
          </p:nvCxnSpPr>
          <p:spPr>
            <a:xfrm>
              <a:off x="503526" y="3248960"/>
              <a:ext cx="0" cy="2356972"/>
            </a:xfrm>
            <a:prstGeom prst="straightConnector1">
              <a:avLst/>
            </a:prstGeom>
            <a:noFill/>
            <a:ln cap="flat" cmpd="sng" w="9525">
              <a:solidFill>
                <a:srgbClr val="C01662"/>
              </a:solidFill>
              <a:prstDash val="solid"/>
              <a:round/>
              <a:headEnd len="sm" w="sm" type="none"/>
              <a:tailEnd len="lg" w="lg" type="oval"/>
            </a:ln>
          </p:spPr>
        </p:cxnSp>
      </p:grpSp>
      <p:cxnSp>
        <p:nvCxnSpPr>
          <p:cNvPr id="80" name="Google Shape;80;p11"/>
          <p:cNvCxnSpPr/>
          <p:nvPr/>
        </p:nvCxnSpPr>
        <p:spPr>
          <a:xfrm flipH="1" rot="10800000">
            <a:off x="1395561" y="2536133"/>
            <a:ext cx="1368152" cy="7"/>
          </a:xfrm>
          <a:prstGeom prst="straightConnector1">
            <a:avLst/>
          </a:prstGeom>
          <a:noFill/>
          <a:ln cap="flat" cmpd="sng" w="9525">
            <a:solidFill>
              <a:srgbClr val="C0166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1" name="Google Shape;81;p11"/>
          <p:cNvGrpSpPr/>
          <p:nvPr/>
        </p:nvGrpSpPr>
        <p:grpSpPr>
          <a:xfrm>
            <a:off x="8952847" y="4152549"/>
            <a:ext cx="130882" cy="84684"/>
            <a:chOff x="1403646" y="2132856"/>
            <a:chExt cx="275475" cy="504056"/>
          </a:xfrm>
        </p:grpSpPr>
        <p:sp>
          <p:nvSpPr>
            <p:cNvPr id="82" name="Google Shape;82;p11"/>
            <p:cNvSpPr/>
            <p:nvPr/>
          </p:nvSpPr>
          <p:spPr>
            <a:xfrm>
              <a:off x="1403648" y="2204864"/>
              <a:ext cx="262910" cy="432048"/>
            </a:xfrm>
            <a:prstGeom prst="parallelogram">
              <a:avLst>
                <a:gd fmla="val 25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83" name="Google Shape;83;p11"/>
            <p:cNvCxnSpPr/>
            <p:nvPr/>
          </p:nvCxnSpPr>
          <p:spPr>
            <a:xfrm flipH="1">
              <a:off x="1547664" y="2132856"/>
              <a:ext cx="131457" cy="504056"/>
            </a:xfrm>
            <a:prstGeom prst="straightConnector1">
              <a:avLst/>
            </a:prstGeom>
            <a:noFill/>
            <a:ln cap="flat" cmpd="sng" w="9525">
              <a:solidFill>
                <a:srgbClr val="2C256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11"/>
            <p:cNvCxnSpPr/>
            <p:nvPr/>
          </p:nvCxnSpPr>
          <p:spPr>
            <a:xfrm flipH="1">
              <a:off x="1403646" y="2132856"/>
              <a:ext cx="131457" cy="504056"/>
            </a:xfrm>
            <a:prstGeom prst="straightConnector1">
              <a:avLst/>
            </a:prstGeom>
            <a:noFill/>
            <a:ln cap="flat" cmpd="sng" w="9525">
              <a:solidFill>
                <a:srgbClr val="2C256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85" name="Google Shape;85;p11"/>
          <p:cNvCxnSpPr/>
          <p:nvPr/>
        </p:nvCxnSpPr>
        <p:spPr>
          <a:xfrm>
            <a:off x="9251938" y="2480734"/>
            <a:ext cx="1304109" cy="501"/>
          </a:xfrm>
          <a:prstGeom prst="straightConnector1">
            <a:avLst/>
          </a:prstGeom>
          <a:noFill/>
          <a:ln cap="flat" cmpd="sng" w="9525">
            <a:solidFill>
              <a:srgbClr val="99CC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1"/>
          <p:cNvCxnSpPr/>
          <p:nvPr/>
        </p:nvCxnSpPr>
        <p:spPr>
          <a:xfrm rot="10800000">
            <a:off x="9227498" y="2583286"/>
            <a:ext cx="3" cy="1427788"/>
          </a:xfrm>
          <a:prstGeom prst="straightConnector1">
            <a:avLst/>
          </a:prstGeom>
          <a:noFill/>
          <a:ln cap="flat" cmpd="sng" w="9525">
            <a:solidFill>
              <a:srgbClr val="99CC00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87" name="Google Shape;87;p11"/>
          <p:cNvSpPr txBox="1"/>
          <p:nvPr/>
        </p:nvSpPr>
        <p:spPr>
          <a:xfrm>
            <a:off x="9450166" y="2539916"/>
            <a:ext cx="1284621" cy="6950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8E00"/>
              </a:buClr>
              <a:buSzPts val="1000"/>
              <a:buFont typeface="Open Sans"/>
              <a:buNone/>
            </a:pPr>
            <a:r>
              <a:rPr b="0" i="0" lang="fr-FR" sz="1000" u="none" cap="none" strike="noStrike">
                <a:solidFill>
                  <a:srgbClr val="698E00"/>
                </a:solidFill>
                <a:latin typeface="Open Sans"/>
                <a:ea typeface="Open Sans"/>
                <a:cs typeface="Open Sans"/>
                <a:sym typeface="Open Sans"/>
              </a:rPr>
              <a:t>Présentation et</a:t>
            </a:r>
            <a:r>
              <a:rPr b="0" i="0" lang="fr-FR" sz="1000" u="none" cap="none" strike="noStrike">
                <a:solidFill>
                  <a:srgbClr val="698E00"/>
                </a:solidFill>
                <a:latin typeface="Open Sans"/>
                <a:ea typeface="Open Sans"/>
                <a:cs typeface="Open Sans"/>
                <a:sym typeface="Open Sans"/>
              </a:rPr>
              <a:t> évaluation de l’ensemble du travail</a:t>
            </a:r>
            <a:endParaRPr b="0" i="0" sz="1000" u="none" cap="none" strike="noStrike">
              <a:solidFill>
                <a:srgbClr val="698E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8E00"/>
              </a:buClr>
              <a:buSzPts val="1000"/>
              <a:buFont typeface="Open Sans"/>
              <a:buNone/>
            </a:pPr>
            <a:r>
              <a:rPr b="1" lang="fr-FR" sz="1000">
                <a:solidFill>
                  <a:srgbClr val="698E00"/>
                </a:solidFill>
                <a:latin typeface="Open Sans"/>
                <a:ea typeface="Open Sans"/>
                <a:cs typeface="Open Sans"/>
                <a:sym typeface="Open Sans"/>
              </a:rPr>
              <a:t>06 février</a:t>
            </a:r>
            <a:endParaRPr/>
          </a:p>
        </p:txBody>
      </p:sp>
      <p:grpSp>
        <p:nvGrpSpPr>
          <p:cNvPr id="88" name="Google Shape;88;p11"/>
          <p:cNvGrpSpPr/>
          <p:nvPr/>
        </p:nvGrpSpPr>
        <p:grpSpPr>
          <a:xfrm rot="10800000">
            <a:off x="9119487" y="4002361"/>
            <a:ext cx="216024" cy="215999"/>
            <a:chOff x="323528" y="2888960"/>
            <a:chExt cx="360000" cy="360000"/>
          </a:xfrm>
        </p:grpSpPr>
        <p:sp>
          <p:nvSpPr>
            <p:cNvPr id="89" name="Google Shape;89;p11"/>
            <p:cNvSpPr/>
            <p:nvPr/>
          </p:nvSpPr>
          <p:spPr>
            <a:xfrm>
              <a:off x="395516" y="2960948"/>
              <a:ext cx="216024" cy="216024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323528" y="2888960"/>
              <a:ext cx="360000" cy="360000"/>
            </a:xfrm>
            <a:prstGeom prst="ellipse">
              <a:avLst/>
            </a:prstGeom>
            <a:noFill/>
            <a:ln cap="flat" cmpd="sng" w="25400">
              <a:solidFill>
                <a:srgbClr val="99C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1" name="Google Shape;91;p11"/>
          <p:cNvSpPr txBox="1"/>
          <p:nvPr/>
        </p:nvSpPr>
        <p:spPr>
          <a:xfrm>
            <a:off x="1395561" y="2373656"/>
            <a:ext cx="974478" cy="820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1662"/>
              </a:buClr>
              <a:buSzPts val="1000"/>
              <a:buFont typeface="Open Sans"/>
              <a:buNone/>
            </a:pPr>
            <a:r>
              <a:rPr b="1" lang="fr-FR" sz="1000">
                <a:solidFill>
                  <a:srgbClr val="C01662"/>
                </a:solidFill>
                <a:latin typeface="Open Sans"/>
                <a:ea typeface="Open Sans"/>
                <a:cs typeface="Open Sans"/>
                <a:sym typeface="Open Sans"/>
              </a:rPr>
              <a:t>Kick-Off</a:t>
            </a:r>
            <a:endParaRPr b="1" i="0" sz="1000" u="none" cap="none" strike="noStrike">
              <a:solidFill>
                <a:srgbClr val="C0166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1"/>
          <p:cNvSpPr txBox="1"/>
          <p:nvPr/>
        </p:nvSpPr>
        <p:spPr>
          <a:xfrm>
            <a:off x="9146915" y="2308794"/>
            <a:ext cx="1541487" cy="1210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Open Sans"/>
              <a:buNone/>
            </a:pPr>
            <a:r>
              <a:rPr b="1" lang="fr-FR" sz="1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Soutenance</a:t>
            </a:r>
            <a:endParaRPr b="1" i="0" sz="1000" u="none" cap="none" strike="noStrike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1"/>
          <p:cNvSpPr txBox="1"/>
          <p:nvPr/>
        </p:nvSpPr>
        <p:spPr>
          <a:xfrm>
            <a:off x="1505185" y="2734776"/>
            <a:ext cx="1570289" cy="4304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1662"/>
              </a:buClr>
              <a:buSzPts val="1000"/>
              <a:buFont typeface="Open Sans"/>
              <a:buNone/>
            </a:pPr>
            <a:r>
              <a:rPr b="1" lang="fr-FR" sz="1000">
                <a:solidFill>
                  <a:srgbClr val="C01662"/>
                </a:solidFill>
                <a:latin typeface="Open Sans"/>
                <a:ea typeface="Open Sans"/>
                <a:cs typeface="Open Sans"/>
                <a:sym typeface="Open Sans"/>
              </a:rPr>
              <a:t>Lancement du projet sur l’ensemble des campus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1662"/>
              </a:buClr>
              <a:buSzPts val="1000"/>
              <a:buFont typeface="Open Sans"/>
              <a:buNone/>
            </a:pPr>
            <a:r>
              <a:rPr b="1" lang="fr-FR" sz="1000">
                <a:solidFill>
                  <a:srgbClr val="C01662"/>
                </a:solidFill>
                <a:latin typeface="Open Sans"/>
                <a:ea typeface="Open Sans"/>
                <a:cs typeface="Open Sans"/>
                <a:sym typeface="Open Sans"/>
              </a:rPr>
              <a:t>02 février</a:t>
            </a:r>
            <a:endParaRPr b="1" i="0" sz="1000" u="none" cap="none" strike="noStrike">
              <a:solidFill>
                <a:srgbClr val="C0166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32768" y="94530"/>
            <a:ext cx="2986087" cy="111413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 txBox="1"/>
          <p:nvPr/>
        </p:nvSpPr>
        <p:spPr>
          <a:xfrm>
            <a:off x="653518" y="338252"/>
            <a:ext cx="8300006" cy="626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1D3"/>
              </a:buClr>
              <a:buSzPts val="4000"/>
              <a:buFont typeface="Mulish"/>
              <a:buNone/>
            </a:pPr>
            <a:r>
              <a:rPr b="1" i="0" lang="fr-FR" sz="4000">
                <a:solidFill>
                  <a:srgbClr val="0091D3"/>
                </a:solidFill>
                <a:latin typeface="Mulish"/>
                <a:ea typeface="Mulish"/>
                <a:cs typeface="Mulish"/>
                <a:sym typeface="Mulish"/>
              </a:rPr>
              <a:t>Livrables attendus</a:t>
            </a:r>
            <a:endParaRPr b="1" i="0" sz="4000">
              <a:solidFill>
                <a:srgbClr val="0091D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01" name="Google Shape;101;p12"/>
          <p:cNvSpPr txBox="1"/>
          <p:nvPr/>
        </p:nvSpPr>
        <p:spPr>
          <a:xfrm>
            <a:off x="828627" y="2308466"/>
            <a:ext cx="540611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0091D3"/>
                </a:solidFill>
                <a:latin typeface="Mulish"/>
                <a:ea typeface="Mulish"/>
                <a:cs typeface="Mulish"/>
                <a:sym typeface="Mulish"/>
              </a:rPr>
              <a:t>Pipeline dockerisé</a:t>
            </a:r>
            <a:endParaRPr b="1" sz="4000">
              <a:solidFill>
                <a:srgbClr val="0091D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02" name="Google Shape;102;p12"/>
          <p:cNvSpPr txBox="1"/>
          <p:nvPr/>
        </p:nvSpPr>
        <p:spPr>
          <a:xfrm>
            <a:off x="6334173" y="2308466"/>
            <a:ext cx="5029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0091D3"/>
                </a:solidFill>
                <a:latin typeface="Mulish"/>
                <a:ea typeface="Mulish"/>
                <a:cs typeface="Mulish"/>
                <a:sym typeface="Mulish"/>
              </a:rPr>
              <a:t>Dossier technique</a:t>
            </a:r>
            <a:endParaRPr/>
          </a:p>
        </p:txBody>
      </p:sp>
      <p:sp>
        <p:nvSpPr>
          <p:cNvPr id="103" name="Google Shape;103;p12"/>
          <p:cNvSpPr txBox="1"/>
          <p:nvPr/>
        </p:nvSpPr>
        <p:spPr>
          <a:xfrm>
            <a:off x="4100766" y="3841649"/>
            <a:ext cx="399046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0091D3"/>
                </a:solidFill>
                <a:latin typeface="Mulish"/>
                <a:ea typeface="Mulish"/>
                <a:cs typeface="Mulish"/>
                <a:sym typeface="Mulish"/>
              </a:rPr>
              <a:t>Powerpoint de présentation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32768" y="94530"/>
            <a:ext cx="2986087" cy="111413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653518" y="338252"/>
            <a:ext cx="8300006" cy="626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1D3"/>
              </a:buClr>
              <a:buSzPts val="4000"/>
              <a:buFont typeface="Mulish"/>
              <a:buNone/>
            </a:pPr>
            <a:r>
              <a:rPr b="1" i="0" lang="fr-FR" sz="4000">
                <a:solidFill>
                  <a:srgbClr val="0091D3"/>
                </a:solidFill>
                <a:latin typeface="Mulish"/>
                <a:ea typeface="Mulish"/>
                <a:cs typeface="Mulish"/>
                <a:sym typeface="Mulish"/>
              </a:rPr>
              <a:t>Livrables attendus - BONUS</a:t>
            </a:r>
            <a:endParaRPr b="1" i="0" sz="4000">
              <a:solidFill>
                <a:srgbClr val="0091D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11" name="Google Shape;111;p13"/>
          <p:cNvPicPr preferRelativeResize="0"/>
          <p:nvPr/>
        </p:nvPicPr>
        <p:blipFill rotWithShape="1">
          <a:blip r:embed="rId4">
            <a:alphaModFix/>
          </a:blip>
          <a:srcRect b="15882" l="5519" r="5408" t="15095"/>
          <a:stretch/>
        </p:blipFill>
        <p:spPr>
          <a:xfrm>
            <a:off x="3355758" y="2024109"/>
            <a:ext cx="4811697" cy="3728621"/>
          </a:xfrm>
          <a:prstGeom prst="rect">
            <a:avLst/>
          </a:prstGeom>
          <a:solidFill>
            <a:srgbClr val="ECECEC"/>
          </a:solidFill>
          <a:ln cap="sq" cmpd="sng" w="1905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5000" kx="195000" rotWithShape="0" algn="tl" dir="12900000" dist="50800" ky="145000">
              <a:srgbClr val="000000">
                <a:alpha val="2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32768" y="94530"/>
            <a:ext cx="2986087" cy="111413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653518" y="338252"/>
            <a:ext cx="8300006" cy="626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1D3"/>
              </a:buClr>
              <a:buSzPts val="4000"/>
              <a:buFont typeface="Mulish"/>
              <a:buNone/>
            </a:pPr>
            <a:r>
              <a:rPr b="1" i="0" lang="fr-FR" sz="4000">
                <a:solidFill>
                  <a:srgbClr val="0091D3"/>
                </a:solidFill>
                <a:latin typeface="Mulish"/>
                <a:ea typeface="Mulish"/>
                <a:cs typeface="Mulish"/>
                <a:sym typeface="Mulish"/>
              </a:rPr>
              <a:t>Ressources et outils</a:t>
            </a:r>
            <a:endParaRPr b="1" i="0" sz="4000">
              <a:solidFill>
                <a:srgbClr val="0091D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descr="Comment installer Docker sur Debian 10 - sys-admin.fr" id="119" name="Google Shape;11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872" y="3295173"/>
            <a:ext cx="2274890" cy="1943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Lflow : tout savoir sur l'outil indispensable du MLOps | Blent.ai" id="120" name="Google Shape;12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21683" y="4915345"/>
            <a:ext cx="4163676" cy="1604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stgreSQL vs SQL Server : 16 différences cruciales" id="121" name="Google Shape;12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96266" y="2787217"/>
            <a:ext cx="3289923" cy="1850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ask (framework) — Wikipédia" id="122" name="Google Shape;12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66808" y="2402796"/>
            <a:ext cx="3631277" cy="1424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stAPI : tout savoir sur le framework web Python" id="123" name="Google Shape;12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7247" y="1619692"/>
            <a:ext cx="3232143" cy="122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ikit-learn — Wikipédia" id="124" name="Google Shape;12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90578" y="4203559"/>
            <a:ext cx="3183735" cy="1719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32768" y="94530"/>
            <a:ext cx="2986087" cy="111413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653518" y="338252"/>
            <a:ext cx="8300006" cy="626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1D3"/>
              </a:buClr>
              <a:buSzPts val="4000"/>
              <a:buFont typeface="Mulish"/>
              <a:buNone/>
            </a:pPr>
            <a:r>
              <a:rPr b="1" i="0" lang="fr-FR" sz="4000">
                <a:solidFill>
                  <a:srgbClr val="0091D3"/>
                </a:solidFill>
                <a:latin typeface="Mulish"/>
                <a:ea typeface="Mulish"/>
                <a:cs typeface="Mulish"/>
                <a:sym typeface="Mulish"/>
              </a:rPr>
              <a:t>Critères de réussite</a:t>
            </a:r>
            <a:endParaRPr b="1" i="0" sz="4000">
              <a:solidFill>
                <a:srgbClr val="0091D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4890768" y="1895004"/>
            <a:ext cx="2410459" cy="507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fonctionnel</a:t>
            </a:r>
            <a:endParaRPr sz="16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4890767" y="2557924"/>
            <a:ext cx="2410459" cy="507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Capacité à argumenter et défendre ses choix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4890767" y="3175188"/>
            <a:ext cx="2410458" cy="507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Traçabilité via MLflow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4890767" y="3792452"/>
            <a:ext cx="2410458" cy="5076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Travail collaboratif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32768" y="94530"/>
            <a:ext cx="2986087" cy="111413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653518" y="338252"/>
            <a:ext cx="8300006" cy="626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1D3"/>
              </a:buClr>
              <a:buSzPts val="4000"/>
              <a:buFont typeface="Mulish"/>
              <a:buNone/>
            </a:pPr>
            <a:r>
              <a:rPr b="1" i="0" lang="fr-FR" sz="4000">
                <a:solidFill>
                  <a:srgbClr val="0091D3"/>
                </a:solidFill>
                <a:latin typeface="Mulish"/>
                <a:ea typeface="Mulish"/>
                <a:cs typeface="Mulish"/>
                <a:sym typeface="Mulish"/>
              </a:rPr>
              <a:t>Contacts</a:t>
            </a:r>
            <a:endParaRPr b="1" i="0" sz="4000">
              <a:solidFill>
                <a:srgbClr val="0091D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1988" y="1841008"/>
            <a:ext cx="7488023" cy="356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